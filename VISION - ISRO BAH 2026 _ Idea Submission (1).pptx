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8" r:id="rId2"/>
    <p:sldId id="26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75CB04-5648-462B-8438-ADA6B71885C7}">
  <a:tblStyle styleId="{0B75CB04-5648-462B-8438-ADA6B71885C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41" autoAdjust="0"/>
  </p:normalViewPr>
  <p:slideViewPr>
    <p:cSldViewPr snapToGrid="0">
      <p:cViewPr varScale="1">
        <p:scale>
          <a:sx n="84" d="100"/>
          <a:sy n="84" d="100"/>
        </p:scale>
        <p:origin x="99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96D20C86-299B-2B53-7F1B-824A1B7FD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38"/>
          <a:stretch>
            <a:fillRect/>
          </a:stretch>
        </p:blipFill>
        <p:spPr bwMode="auto">
          <a:xfrm>
            <a:off x="77170" y="724056"/>
            <a:ext cx="6392156" cy="369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0AEED3-E425-6A9F-A280-804C5B014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132" y="809317"/>
            <a:ext cx="2663179" cy="35248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051452-F8EC-3205-2DCB-EF7726FA83C6}"/>
              </a:ext>
            </a:extLst>
          </p:cNvPr>
          <p:cNvSpPr txBox="1"/>
          <p:nvPr/>
        </p:nvSpPr>
        <p:spPr>
          <a:xfrm>
            <a:off x="6071768" y="4350748"/>
            <a:ext cx="3137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Dynamic Output Validation:</a:t>
            </a:r>
            <a:r>
              <a:rPr lang="en-US" sz="800" dirty="0"/>
              <a:t> Preserving connectivity across areas of dense foliage and building shadows. Direct comparisons of raw segmentation and fully mapped graph models are recorded verbatim in </a:t>
            </a:r>
            <a:r>
              <a:rPr lang="en-US" sz="800" b="1" dirty="0"/>
              <a:t>image.</a:t>
            </a:r>
            <a:endParaRPr lang="en-IN" sz="8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CFBACBB-278A-5607-F9E7-D57275A303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C82A-7AD8-3B20-E3AF-121FB67A5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63" y="632393"/>
            <a:ext cx="8408354" cy="328982"/>
          </a:xfrm>
        </p:spPr>
        <p:txBody>
          <a:bodyPr>
            <a:normAutofit fontScale="90000"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PROJECT DIFFERENTIATION AND UNIQUE SELLING POINT ( USP) </a:t>
            </a:r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4764A-B2AD-45AD-D7AC-CABD0BEB2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460"/>
            <a:ext cx="4720856" cy="3383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1E9C08-D329-B287-0202-EB2ABE9C6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392" y="1143156"/>
            <a:ext cx="4152014" cy="3173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D10313-31B7-C240-B016-86378E491682}"/>
              </a:ext>
            </a:extLst>
          </p:cNvPr>
          <p:cNvSpPr txBox="1"/>
          <p:nvPr/>
        </p:nvSpPr>
        <p:spPr>
          <a:xfrm>
            <a:off x="4337198" y="4267201"/>
            <a:ext cx="4806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highlight>
                  <a:srgbClr val="00FFFF"/>
                </a:highlight>
              </a:rPr>
              <a:t>A catastrophic flash flood triggered by intense rainfall caused debris-laden flows over </a:t>
            </a:r>
            <a:r>
              <a:rPr lang="en-US" sz="800" dirty="0" err="1">
                <a:solidFill>
                  <a:schemeClr val="tx1"/>
                </a:solidFill>
                <a:highlight>
                  <a:srgbClr val="00FFFF"/>
                </a:highlight>
              </a:rPr>
              <a:t>Dharali</a:t>
            </a:r>
            <a:r>
              <a:rPr lang="en-US" sz="800" dirty="0">
                <a:solidFill>
                  <a:schemeClr val="tx1"/>
                </a:solidFill>
                <a:highlight>
                  <a:srgbClr val="00FFFF"/>
                </a:highlight>
              </a:rPr>
              <a:t> and </a:t>
            </a:r>
            <a:r>
              <a:rPr lang="en-US" sz="800" dirty="0" err="1">
                <a:solidFill>
                  <a:schemeClr val="tx1"/>
                </a:solidFill>
                <a:highlight>
                  <a:srgbClr val="00FFFF"/>
                </a:highlight>
              </a:rPr>
              <a:t>Harsil</a:t>
            </a:r>
            <a:r>
              <a:rPr lang="en-US" sz="800" dirty="0">
                <a:solidFill>
                  <a:schemeClr val="tx1"/>
                </a:solidFill>
                <a:highlight>
                  <a:srgbClr val="00FFFF"/>
                </a:highlight>
              </a:rPr>
              <a:t> villages, in Uttarkashi district, Uttarakhand, on the 5th August 2025. The sudden deluge swept away homes, buildings, bridges, roads, and claimed human lives.</a:t>
            </a:r>
          </a:p>
          <a:p>
            <a:r>
              <a:rPr lang="en-US" sz="800" dirty="0">
                <a:solidFill>
                  <a:schemeClr val="tx1"/>
                </a:solidFill>
                <a:highlight>
                  <a:srgbClr val="FFFF00"/>
                </a:highlight>
              </a:rPr>
              <a:t>SOURCE: https://www.isro.gov.in/indian_satellite_data_based_analysis_of_the_dharali_flash_flood.html</a:t>
            </a:r>
            <a:endParaRPr lang="en-IN" sz="8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10" name="Google Shape;62;p14" title="wswswsw33d3d.png">
            <a:extLst>
              <a:ext uri="{FF2B5EF4-FFF2-40B4-BE49-F238E27FC236}">
                <a16:creationId xmlns:a16="http://schemas.microsoft.com/office/drawing/2014/main" id="{93AC9AD2-6E20-079B-CEF3-C008981877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947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1432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3FB10058-1967-82B7-BA62-DBCAB6D261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2216A-43E2-06CF-F9F4-666D8C159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0015"/>
            <a:ext cx="9144000" cy="44551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0C36858-53CF-00BB-FE9E-6DC89C57F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103" y="704715"/>
            <a:ext cx="4677541" cy="321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Google Shape;81;p17" title="wswswsw33d3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677684-AEB7-4705-5018-325AA32BE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95" y="3542551"/>
            <a:ext cx="2540740" cy="12972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9D472C-6CB5-E1CF-8654-0692D3AA60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118"/>
          <a:stretch>
            <a:fillRect/>
          </a:stretch>
        </p:blipFill>
        <p:spPr>
          <a:xfrm>
            <a:off x="106595" y="638349"/>
            <a:ext cx="2275731" cy="2014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0814E2-87C1-645C-16DB-EF6AC606E0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903" y="3281472"/>
            <a:ext cx="2450161" cy="1476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4E4BA1-CDA0-358A-5611-C0D7F84776F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268" b="7735"/>
          <a:stretch>
            <a:fillRect/>
          </a:stretch>
        </p:blipFill>
        <p:spPr>
          <a:xfrm>
            <a:off x="5987845" y="887010"/>
            <a:ext cx="3049560" cy="1507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2D3225-76D9-C35C-E31A-78035F91D237}"/>
              </a:ext>
            </a:extLst>
          </p:cNvPr>
          <p:cNvSpPr txBox="1"/>
          <p:nvPr/>
        </p:nvSpPr>
        <p:spPr>
          <a:xfrm>
            <a:off x="580782" y="2652864"/>
            <a:ext cx="132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Segmentation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C0A3C-7ECD-15A0-3E85-A50F7F7D1966}"/>
              </a:ext>
            </a:extLst>
          </p:cNvPr>
          <p:cNvSpPr txBox="1"/>
          <p:nvPr/>
        </p:nvSpPr>
        <p:spPr>
          <a:xfrm>
            <a:off x="693748" y="4812757"/>
            <a:ext cx="132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Construction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2BB63-F77C-4335-BF49-839E91580574}"/>
              </a:ext>
            </a:extLst>
          </p:cNvPr>
          <p:cNvSpPr txBox="1"/>
          <p:nvPr/>
        </p:nvSpPr>
        <p:spPr>
          <a:xfrm>
            <a:off x="6848947" y="2368242"/>
            <a:ext cx="132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Resilience Stress Test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87A531-3F66-E38A-CB9B-DC6AC071662F}"/>
              </a:ext>
            </a:extLst>
          </p:cNvPr>
          <p:cNvSpPr txBox="1"/>
          <p:nvPr/>
        </p:nvSpPr>
        <p:spPr>
          <a:xfrm>
            <a:off x="7161305" y="4758467"/>
            <a:ext cx="132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Intel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FA09947-1F13-BB66-46F6-2BB365C61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1"/>
          <a:stretch>
            <a:fillRect/>
          </a:stretch>
        </p:blipFill>
        <p:spPr bwMode="auto">
          <a:xfrm>
            <a:off x="3797710" y="645839"/>
            <a:ext cx="5283722" cy="327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3658B7-25EC-4535-A046-CE4FD7978D81}"/>
              </a:ext>
            </a:extLst>
          </p:cNvPr>
          <p:cNvSpPr txBox="1"/>
          <p:nvPr/>
        </p:nvSpPr>
        <p:spPr>
          <a:xfrm>
            <a:off x="4968655" y="645840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Network Simulation Framework</a:t>
            </a:r>
            <a:endParaRPr lang="en-I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9D873-88DC-BD47-3269-945DD5919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" y="601595"/>
            <a:ext cx="3467484" cy="2090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4AB975-333D-0A1D-CE36-7F4E96293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" y="2963403"/>
            <a:ext cx="3683112" cy="1908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FE7FEC-041C-95FF-3BC9-E2115FBF870B}"/>
              </a:ext>
            </a:extLst>
          </p:cNvPr>
          <p:cNvSpPr txBox="1"/>
          <p:nvPr/>
        </p:nvSpPr>
        <p:spPr>
          <a:xfrm>
            <a:off x="1181866" y="4761593"/>
            <a:ext cx="132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Resilience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132C5-8FE9-78EA-EADD-FCE37A0BEDD6}"/>
              </a:ext>
            </a:extLst>
          </p:cNvPr>
          <p:cNvSpPr txBox="1"/>
          <p:nvPr/>
        </p:nvSpPr>
        <p:spPr>
          <a:xfrm>
            <a:off x="931189" y="2692029"/>
            <a:ext cx="1616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Intelligence Hub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7C82C7F-008D-383E-C8DD-E572D724A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5" b="9113"/>
          <a:stretch>
            <a:fillRect/>
          </a:stretch>
        </p:blipFill>
        <p:spPr bwMode="auto">
          <a:xfrm>
            <a:off x="1342103" y="589426"/>
            <a:ext cx="6459794" cy="440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84FF072-C26A-84D1-B03C-B242EC2DD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0" r="4260" b="27470"/>
          <a:stretch>
            <a:fillRect/>
          </a:stretch>
        </p:blipFill>
        <p:spPr bwMode="auto">
          <a:xfrm>
            <a:off x="339212" y="640096"/>
            <a:ext cx="8465575" cy="386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296A894-1B99-7540-3A7D-E6EC0F8E6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7"/>
          <a:stretch>
            <a:fillRect/>
          </a:stretch>
        </p:blipFill>
        <p:spPr bwMode="auto">
          <a:xfrm>
            <a:off x="682871" y="648928"/>
            <a:ext cx="7778257" cy="429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138</Words>
  <Application>Microsoft Office PowerPoint</Application>
  <PresentationFormat>On-screen Show (16:9)</PresentationFormat>
  <Paragraphs>11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Simple Light</vt:lpstr>
      <vt:lpstr>PowerPoint Presentation</vt:lpstr>
      <vt:lpstr>PROJECT DIFFERENTIATION AND UNIQUE SELLING POINT ( USP)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gobinda das</dc:creator>
  <cp:lastModifiedBy>ssd</cp:lastModifiedBy>
  <cp:revision>8</cp:revision>
  <dcterms:modified xsi:type="dcterms:W3CDTF">2026-09-26T20:53:30Z</dcterms:modified>
</cp:coreProperties>
</file>